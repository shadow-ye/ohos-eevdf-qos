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97e85785544159" /><Relationship Type="http://schemas.openxmlformats.org/officeDocument/2006/relationships/extended-properties" Target="/docProps/app.xml" Id="Rec5cacfaac584794" /><Relationship Type="http://schemas.openxmlformats.org/officeDocument/2006/relationships/officeDocument" Target="/ppt/presentation.xml" Id="R82148892c68246cd" /></Relationships>
</file>

<file path=ppt/presentation.xml><?xml version="1.0" encoding="utf-8"?>
<p:presentation xmlns:p="http://schemas.openxmlformats.org/presentationml/2006/main" firstSlideNum="1">
  <p:sldMasterIdLst>
    <p:sldMasterId xmlns:r="http://schemas.openxmlformats.org/officeDocument/2006/relationships" id="2147483648" r:id="R697a985261ec45c1"/>
  </p:sldMasterIdLst>
  <p:notesMasterIdLst>
    <p:notesMasterId xmlns:r="http://schemas.openxmlformats.org/officeDocument/2006/relationships" r:id="R23d7ed588e464690"/>
  </p:notesMasterIdLst>
  <p:sldIdLst>
    <p:sldId xmlns:r="http://schemas.openxmlformats.org/officeDocument/2006/relationships" id="256" r:id="Rd90cf9ffa19b472e"/>
    <p:sldId xmlns:r="http://schemas.openxmlformats.org/officeDocument/2006/relationships" id="257" r:id="R6d70758a07bd4b5a"/>
    <p:sldId xmlns:r="http://schemas.openxmlformats.org/officeDocument/2006/relationships" id="258" r:id="R8e19b0cfe2094f68"/>
    <p:sldId xmlns:r="http://schemas.openxmlformats.org/officeDocument/2006/relationships" id="259" r:id="Rb169d6315c4c425a"/>
    <p:sldId xmlns:r="http://schemas.openxmlformats.org/officeDocument/2006/relationships" id="260" r:id="R3cf3ec7516604bc0"/>
    <p:sldId xmlns:r="http://schemas.openxmlformats.org/officeDocument/2006/relationships" id="261" r:id="Rdab4931ddd42443d"/>
    <p:sldId xmlns:r="http://schemas.openxmlformats.org/officeDocument/2006/relationships" id="262" r:id="R884824e0567a47f3"/>
    <p:sldId xmlns:r="http://schemas.openxmlformats.org/officeDocument/2006/relationships" id="263" r:id="Rbfca09242faa42c8"/>
    <p:sldId xmlns:r="http://schemas.openxmlformats.org/officeDocument/2006/relationships" id="264" r:id="R740f5fcd5eba4769"/>
    <p:sldId xmlns:r="http://schemas.openxmlformats.org/officeDocument/2006/relationships" id="265" r:id="R295e89cb070b4b09"/>
    <p:sldId xmlns:r="http://schemas.openxmlformats.org/officeDocument/2006/relationships" id="266" r:id="Re7b9b24f6ced4812"/>
    <p:sldId xmlns:r="http://schemas.openxmlformats.org/officeDocument/2006/relationships" id="267" r:id="R860a5aa0f0484c75"/>
    <p:sldId xmlns:r="http://schemas.openxmlformats.org/officeDocument/2006/relationships" id="268" r:id="R3f4a6f94f38046f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e78bfa0d6a468b" /><Relationship Type="http://schemas.openxmlformats.org/officeDocument/2006/relationships/slideMaster" Target="/ppt/slideMasters/slideMaster1.xml" Id="R697a985261ec45c1" /><Relationship Type="http://schemas.openxmlformats.org/officeDocument/2006/relationships/notesMaster" Target="/ppt/notesMasters/notesMaster1.xml" Id="R23d7ed588e464690" /><Relationship Type="http://schemas.openxmlformats.org/officeDocument/2006/relationships/presProps" Target="/ppt/presProps.xml" Id="R40a7d7b606cf445d" /><Relationship Type="http://schemas.openxmlformats.org/officeDocument/2006/relationships/viewProps" Target="/ppt/viewProps.xml" Id="Rd68e30c085914126" /><Relationship Type="http://schemas.openxmlformats.org/officeDocument/2006/relationships/tableStyles" Target="/ppt/tableStyles.xml" Id="Rb3f275bb63e44a31" /><Relationship Type="http://schemas.openxmlformats.org/officeDocument/2006/relationships/slide" Target="/ppt/slides/slide1.xml" Id="Rd90cf9ffa19b472e" /><Relationship Type="http://schemas.openxmlformats.org/officeDocument/2006/relationships/slide" Target="/ppt/slides/slide2.xml" Id="R6d70758a07bd4b5a" /><Relationship Type="http://schemas.openxmlformats.org/officeDocument/2006/relationships/slide" Target="/ppt/slides/slide3.xml" Id="R8e19b0cfe2094f68" /><Relationship Type="http://schemas.openxmlformats.org/officeDocument/2006/relationships/slide" Target="/ppt/slides/slide4.xml" Id="Rb169d6315c4c425a" /><Relationship Type="http://schemas.openxmlformats.org/officeDocument/2006/relationships/slide" Target="/ppt/slides/slide5.xml" Id="R3cf3ec7516604bc0" /><Relationship Type="http://schemas.openxmlformats.org/officeDocument/2006/relationships/slide" Target="/ppt/slides/slide6.xml" Id="Rdab4931ddd42443d" /><Relationship Type="http://schemas.openxmlformats.org/officeDocument/2006/relationships/slide" Target="/ppt/slides/slide7.xml" Id="R884824e0567a47f3" /><Relationship Type="http://schemas.openxmlformats.org/officeDocument/2006/relationships/slide" Target="/ppt/slides/slide8.xml" Id="Rbfca09242faa42c8" /><Relationship Type="http://schemas.openxmlformats.org/officeDocument/2006/relationships/slide" Target="/ppt/slides/slide9.xml" Id="R740f5fcd5eba4769" /><Relationship Type="http://schemas.openxmlformats.org/officeDocument/2006/relationships/slide" Target="/ppt/slides/slide10.xml" Id="R295e89cb070b4b09" /><Relationship Type="http://schemas.openxmlformats.org/officeDocument/2006/relationships/slide" Target="/ppt/slides/slide11.xml" Id="Re7b9b24f6ced4812" /><Relationship Type="http://schemas.openxmlformats.org/officeDocument/2006/relationships/slide" Target="/ppt/slides/slide12.xml" Id="R860a5aa0f0484c75" /><Relationship Type="http://schemas.openxmlformats.org/officeDocument/2006/relationships/slide" Target="/ppt/slides/slide13.xml" Id="R3f4a6f94f38046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5d9d8d77504c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29be78d09b4519" /><Relationship Type="http://schemas.openxmlformats.org/officeDocument/2006/relationships/notesMaster" Target="/ppt/notesMasters/notesMaster1.xml" Id="R8fc657b68cae45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50d93419634e12" /><Relationship Type="http://schemas.openxmlformats.org/officeDocument/2006/relationships/notesMaster" Target="/ppt/notesMasters/notesMaster1.xml" Id="R50fdd4d2b84d46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5e993afdca4b7f" /><Relationship Type="http://schemas.openxmlformats.org/officeDocument/2006/relationships/notesMaster" Target="/ppt/notesMasters/notesMaster1.xml" Id="R668f181084e445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76d7a54f54440d" /><Relationship Type="http://schemas.openxmlformats.org/officeDocument/2006/relationships/notesMaster" Target="/ppt/notesMasters/notesMaster1.xml" Id="R9345110b06464d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ce9c9c95244788" /><Relationship Type="http://schemas.openxmlformats.org/officeDocument/2006/relationships/notesMaster" Target="/ppt/notesMasters/notesMaster1.xml" Id="R8c67c22641f640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bed9172f77414c" /><Relationship Type="http://schemas.openxmlformats.org/officeDocument/2006/relationships/notesMaster" Target="/ppt/notesMasters/notesMaster1.xml" Id="R66c57d3e466145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dda01c4d01419f" /><Relationship Type="http://schemas.openxmlformats.org/officeDocument/2006/relationships/notesMaster" Target="/ppt/notesMasters/notesMaster1.xml" Id="R39838bb0d7644f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107dbf03984916" /><Relationship Type="http://schemas.openxmlformats.org/officeDocument/2006/relationships/notesMaster" Target="/ppt/notesMasters/notesMaster1.xml" Id="Rf09407ed3fcf4c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bd0cc584f24afe" /><Relationship Type="http://schemas.openxmlformats.org/officeDocument/2006/relationships/notesMaster" Target="/ppt/notesMasters/notesMaster1.xml" Id="Re5b8c59213854f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cd74dabd7d4e37" /><Relationship Type="http://schemas.openxmlformats.org/officeDocument/2006/relationships/notesMaster" Target="/ppt/notesMasters/notesMaster1.xml" Id="R0a3f2c86c0644d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6e689e123e42a8" /><Relationship Type="http://schemas.openxmlformats.org/officeDocument/2006/relationships/notesMaster" Target="/ppt/notesMasters/notesMaster1.xml" Id="R7b4d4ef3374a44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6889eb8844481e" /><Relationship Type="http://schemas.openxmlformats.org/officeDocument/2006/relationships/notesMaster" Target="/ppt/notesMasters/notesMaster1.xml" Id="R154e2b44b29b44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cd1bf1877e461b" /><Relationship Type="http://schemas.openxmlformats.org/officeDocument/2006/relationships/notesMaster" Target="/ppt/notesMasters/notesMaster1.xml" Id="Radb6fd34559f45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作品名称与仓库一致；团队信息来自已报名记录。赛事与模板来源见提交说明。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来源：docs/competition/开发设计文档.md 第1至2节；repo/kernel/linux/linux-5.10/。Linux 5.10 是目标平台，6.6 是算法参考。没有实现内存碎片优化，也没有验证微内核。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来源：repo/kernel/linux/linux-5.10/kernel/sched/fair.c 中 avg_vruntime、entity_eligible、pick_eevdf、update_deadline。这里用等权重的直观表述；实际虚拟时间换算还依赖 nice 权重。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来源：repo/kernel/linux/linux-5.10/kernel/sched/fair.c qos_to_slice。等级6是关键后台，按已有策略与default采用相同slice。开关为/proc/sys/kernel/sched_qos_slice，关闭后仍为EEVDF。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来源：内核分析/09-EEVDF审查交接.md；repo/中的sched.h、fair.c、core.c、rbtree_augmented.h、features.h；源码来源哈希见evidence/source-provenance.json。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来源：docs/competition/evidence/2026-10-30-qos/eevdf-qos.log。镜像#15，2026-10-30复跑。AVG为60秒客户机扫描。历史反证内核#9只见9月28日文档，本次未重建或重跑反证镜像。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来源：docs/competition/evidence/2026-10-30-qos/eevdf-qos.log。pick_next_entity计数不是上下文切换计数。所有任务nice相同，两个阶段各400ms，CPU0。HZ250且HRTICK默认关闭。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来源：初版 docs/competition/evidence/summary.json 和补充 evidence/latency-2026-10-30/summary.json。初版和可选 profile 分别是独立三次启动统计中位数，非同一批镜像或合并样本；误差线是逐轮范围。TCG客户机时钟，CPU3。CFS的qos行不消费in_qos字段。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来源：内核分析/10-CFS与EEVDF对比结果.md第3节，fair.c的place_entity、check_preempt_wakeup、update_deadline。本页为代码路径和实验现象支持的原因分析，尚无逐事件trace证实完整因果。历史关闭RUN_TO_PARITY实验未消除退化。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来源：README.md、docs/competition/复现指南.md、scripts/run_bench.py、evidence/images.json和source-provenance.json。Linux补丁已在提取的精确基线文件上检查并应用，逐字节重建全部9个Linux快照文件。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来源：docs/competition/调优实验.md 和 docs/competition/复现指南.md。延迟来自三轮交替启动；QoS 检查3次全通过。2 ms cap 的 QoS 比例未达原阈值。仅为 QEMU TCG 原型结果。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感谢评审。机制适配与验证已经完成，当前性能退化及未验证范围均已披露。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7ee662139476c" /><Relationship Type="http://schemas.openxmlformats.org/officeDocument/2006/relationships/image" Target="/ppt/media/image.png" Id="Rf1caa60c8a6849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cb2d6f74e4b1a" /><Relationship Type="http://schemas.openxmlformats.org/officeDocument/2006/relationships/image" Target="/ppt/media/image2.png" Id="Re7f94fc89541477c" /><Relationship Type="http://schemas.openxmlformats.org/officeDocument/2006/relationships/image" Target="/ppt/media/image3.png" Id="R8893bfead52646ef" /><Relationship Type="http://schemas.openxmlformats.org/officeDocument/2006/relationships/image" Target="/ppt/media/image4.png" Id="Rb99fec3f00024b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3d2a6adb44f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4c53a9f044e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e38d4d7aa480d" /><Relationship Type="http://schemas.openxmlformats.org/officeDocument/2006/relationships/image" Target="/ppt/media/image5.png" Id="R248bc393482248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e610fa6de4524" /><Relationship Type="http://schemas.openxmlformats.org/officeDocument/2006/relationships/image" Target="/ppt/media/image6.png" Id="R43c67d3c3e384af6" /><Relationship Type="http://schemas.openxmlformats.org/officeDocument/2006/relationships/image" Target="/ppt/media/image5.png" Id="R915a75f536a1416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aa924a5f1b4a9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c8628ca9b4a4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fdd9dfb8614df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3b45a3c64437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38337eaf4489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fdaabdefa4ba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cb7f380764efe" /></Relationships>
</file>

<file path=ppt/slideLayouts/slideLayout1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DA0D0DF-055E-4841-90E6-8EC26790DC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  <p:pic>
        <p:nvPicPr>
          <p:cNvPr id="3" name="图片 7">
            <a:extLst xmlns:a="http://schemas.openxmlformats.org/drawingml/2006/main">
              <a:ext uri="{FF2B5EF4-FFF2-40B4-BE49-F238E27FC236}">
                <a16:creationId xmlns:a16="http://schemas.microsoft.com/office/drawing/2014/main" id="{AD92FB08-7273-4129-9E7A-283DFBEEDA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aa60c8a6849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710" y="304165"/>
            <a:ext cx="3564890" cy="1234440"/>
          </a:xfrm>
          <a:prstGeom xmlns:a="http://schemas.openxmlformats.org/drawingml/2006/main" prst="rect">
            <a:avLst/>
          </a:prstGeom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70F19AA-DBC6-43A0-8A23-039B8587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3708BD4E-B387-4CB8-B5D2-E7CD190C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.xml><?xml version="1.0" encoding="utf-8"?>
<p:sldLayout xmlns:p="http://schemas.openxmlformats.org/presentationml/2006/main" type="titleOnly">
  <p:cSld name="FM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图片 1">
            <a:extLst xmlns:a="http://schemas.openxmlformats.org/drawingml/2006/main">
              <a:ext uri="{FF2B5EF4-FFF2-40B4-BE49-F238E27FC236}">
                <a16:creationId xmlns:a16="http://schemas.microsoft.com/office/drawing/2014/main" id="{734821DB-A291-481B-8BFF-13EC6AAD21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f94fc89541477c">
            <a:alphaModFix amt="20000"/>
          </a:blip>
          <a:srcRect xmlns:a="http://schemas.openxmlformats.org/drawingml/2006/main" l="0" t="0" r="0" b="13216"/>
          <a:stretch xmlns:a="http://schemas.openxmlformats.org/drawingml/2006/main"/>
        </p:blipFill>
        <p:spPr>
          <a:xfrm xmlns:a="http://schemas.openxmlformats.org/drawingml/2006/main">
            <a:off x="7546126" y="0"/>
            <a:ext cx="4151671" cy="5794408"/>
          </a:xfrm>
          <a:prstGeom xmlns:a="http://schemas.openxmlformats.org/drawingml/2006/main" prst="rect">
            <a:avLst/>
          </a:prstGeom>
        </p:spPr>
      </p:pic>
      <p:sp>
        <p:nvSpPr>
          <p:cNvPr id="10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0AB0883-C878-4857-BA9E-CB483D3D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11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BE2A8E8D-6BAF-4112-A0FE-780E7215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12" name="图片 9">
            <a:extLst xmlns:a="http://schemas.openxmlformats.org/drawingml/2006/main">
              <a:ext uri="{FF2B5EF4-FFF2-40B4-BE49-F238E27FC236}">
                <a16:creationId xmlns:a16="http://schemas.microsoft.com/office/drawing/2014/main" id="{DC25BE5D-86F6-4E0B-B0D9-173CED535E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3bfead52646ef">
            <a:alphaModFix amt="21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3261146"/>
            <a:ext cx="2999678" cy="4133416"/>
          </a:xfrm>
          <a:prstGeom xmlns:a="http://schemas.openxmlformats.org/drawingml/2006/main" prst="rect">
            <a:avLst/>
          </a:prstGeom>
        </p:spPr>
      </p:pic>
      <p:pic>
        <p:nvPicPr>
          <p:cNvPr id="13" name="图片 4">
            <a:extLst xmlns:a="http://schemas.openxmlformats.org/drawingml/2006/main">
              <a:ext uri="{FF2B5EF4-FFF2-40B4-BE49-F238E27FC236}">
                <a16:creationId xmlns:a16="http://schemas.microsoft.com/office/drawing/2014/main" id="{D9B9C9C0-CB54-42B3-A957-56BCC84BE1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fec3f00024b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73" y="0"/>
            <a:ext cx="3483086" cy="13061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showMasterSp="0" type="title">
  <p:cSld name="1_标题幻灯片"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D014BEF-03B6-4D13-86C1-A0BFED9412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45008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标题和内容"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20EA5B0-DF4F-4BF1-B2B3-11E04E5737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节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49FC1FB-301A-4B00-B48B-73DBE007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2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4704830B-BC33-4822-A8B6-F5A95899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F75DE75-BF45-432D-B6D8-C344900D79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  <p:sp>
        <p:nvSpPr>
          <p:cNvPr id="28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801839BF-5DA8-4EA1-B863-9E7FCE1F56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15067" y="171415"/>
            <a:ext cx="5966068" cy="4461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00" b="1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单击此处编辑母版文本</a:t>
            </a:r>
            <a:endParaRPr/>
          </a:p>
        </p:txBody>
      </p:sp>
      <p:pic>
        <p:nvPicPr>
          <p:cNvPr id="29" name="图片 1">
            <a:extLst xmlns:a="http://schemas.openxmlformats.org/drawingml/2006/main">
              <a:ext uri="{FF2B5EF4-FFF2-40B4-BE49-F238E27FC236}">
                <a16:creationId xmlns:a16="http://schemas.microsoft.com/office/drawing/2014/main" id="{CFDED660-76C3-4C34-A999-96084FD597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bc393482248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25" y="0"/>
            <a:ext cx="2350420" cy="881407"/>
          </a:xfrm>
          <a:prstGeom xmlns:a="http://schemas.openxmlformats.org/drawingml/2006/main" prst="rect">
            <a:avLst/>
          </a:prstGeom>
        </p:spPr>
      </p:pic>
      <p:sp>
        <p:nvSpPr>
          <p:cNvPr id="30" name="矩形 3">
            <a:extLst xmlns:a="http://schemas.openxmlformats.org/drawingml/2006/main">
              <a:ext uri="{FF2B5EF4-FFF2-40B4-BE49-F238E27FC236}">
                <a16:creationId xmlns:a16="http://schemas.microsoft.com/office/drawing/2014/main" id="{7F38C00A-A268-48B9-AF84-E3F4EC78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1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F6">
              <a:alpha val="1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>
  <p:cSld name="两栏内容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CAD8386-9891-4CC2-B898-852042382A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  <p:pic>
        <p:nvPicPr>
          <p:cNvPr id="33" name="图片 3">
            <a:extLst xmlns:a="http://schemas.openxmlformats.org/drawingml/2006/main">
              <a:ext uri="{FF2B5EF4-FFF2-40B4-BE49-F238E27FC236}">
                <a16:creationId xmlns:a16="http://schemas.microsoft.com/office/drawing/2014/main" id="{7B3F8566-A0C7-4C4C-991E-425BD2B24E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3c67d3c3e384af6">
            <a:alphaModFix amt="35000"/>
            <a:biLevel thresh="25000"/>
          </a:blip>
          <a:srcRect xmlns:a="http://schemas.openxmlformats.org/drawingml/2006/main" l="0" t="32381" r="0" b="0"/>
          <a:stretch xmlns:a="http://schemas.openxmlformats.org/drawingml/2006/main"/>
        </p:blipFill>
        <p:spPr>
          <a:xfrm xmlns:a="http://schemas.openxmlformats.org/drawingml/2006/main">
            <a:off x="7482780" y="1381934"/>
            <a:ext cx="3830533" cy="4165580"/>
          </a:xfrm>
          <a:prstGeom xmlns:a="http://schemas.openxmlformats.org/drawingml/2006/main" prst="rect">
            <a:avLst/>
          </a:prstGeom>
        </p:spPr>
      </p:pic>
      <p:sp>
        <p:nvSpPr>
          <p:cNvPr id="35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848BC71-0B02-49F6-81A9-8CE3D456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3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93225DBE-F4BD-4A87-9E43-E18B30C7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37" name="图片 4">
            <a:extLst xmlns:a="http://schemas.openxmlformats.org/drawingml/2006/main">
              <a:ext uri="{FF2B5EF4-FFF2-40B4-BE49-F238E27FC236}">
                <a16:creationId xmlns:a16="http://schemas.microsoft.com/office/drawing/2014/main" id="{EC7541E6-BB7C-405E-A350-9ECB25D994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a75f536a141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478" y="0"/>
            <a:ext cx="2350420" cy="88140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twoTxTwoObj">
  <p:cSld name="比较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34EC866-C657-4676-8FFC-48582120D0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  <p:sp>
        <p:nvSpPr>
          <p:cNvPr id="41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4BD5C80-9B61-46AA-BA1B-994F438D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42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55498146-14CC-43F2-AB53-B6105FEC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矩形 9">
            <a:extLst xmlns:a="http://schemas.openxmlformats.org/drawingml/2006/main">
              <a:ext uri="{FF2B5EF4-FFF2-40B4-BE49-F238E27FC236}">
                <a16:creationId xmlns:a16="http://schemas.microsoft.com/office/drawing/2014/main" id="{18B735AC-8C91-4C7A-9082-F8C8F39E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" y="1199515"/>
            <a:ext cx="1210588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strike="noStrike" cap="none" spc="0" baseline="0">
                <a:ln>
                  <a:noFill/>
                </a:ln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/>
          </a:p>
        </p:txBody>
      </p:sp>
      <p:sp>
        <p:nvSpPr>
          <p:cNvPr id="4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18B16A9-61E9-4B72-8010-74B28FFF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" y="576640"/>
            <a:ext cx="412495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ct val="1"/>
              </a:spcBef>
              <a:spcAft>
                <a:spcPct val="1"/>
              </a:spcAft>
              <a:buNone/>
            </a:pPr>
            <a:r>
              <a:rPr sz="32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>
  <p:cSld name="仅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F5F05E8-2E53-48DD-9B93-39671932E4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  <p:sp>
        <p:nvSpPr>
          <p:cNvPr id="48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DFFDA0A-2A4C-4955-9A5A-771BCCD7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49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06D3CFF-27F1-4153-9D3C-8C95E030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9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3331948-ABA2-4870-B839-B1B9C37C97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F6D31BF-A3A1-466E-A15B-0D9FA3E9E6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ABC47A4-756D-490B-A52F-7D9E2C9FC05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39C8B5-B969-4AA2-868E-E071EF34B0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2AEFC7F-5DEB-48D7-9599-458A7191E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e31567fd374871" /><Relationship Type="http://schemas.openxmlformats.org/officeDocument/2006/relationships/slideLayout" Target="/ppt/slideLayouts/slideLayout1.xml" Id="R7aa049648a6a4e60" /><Relationship Type="http://schemas.openxmlformats.org/officeDocument/2006/relationships/slideLayout" Target="/ppt/slideLayouts/slideLayout2.xml" Id="R686dd8eaadd2436f" /><Relationship Type="http://schemas.openxmlformats.org/officeDocument/2006/relationships/slideLayout" Target="/ppt/slideLayouts/slideLayout3.xml" Id="R59bed0176eac4b92" /><Relationship Type="http://schemas.openxmlformats.org/officeDocument/2006/relationships/slideLayout" Target="/ppt/slideLayouts/slideLayout4.xml" Id="R66c3a4dc32ef4acc" /><Relationship Type="http://schemas.openxmlformats.org/officeDocument/2006/relationships/slideLayout" Target="/ppt/slideLayouts/slideLayout5.xml" Id="R85bbf24a987841d5" /><Relationship Type="http://schemas.openxmlformats.org/officeDocument/2006/relationships/slideLayout" Target="/ppt/slideLayouts/slideLayout6.xml" Id="R7a58f3fce72a4c7f" /><Relationship Type="http://schemas.openxmlformats.org/officeDocument/2006/relationships/slideLayout" Target="/ppt/slideLayouts/slideLayout7.xml" Id="Rf512c2bae6c44e92" /><Relationship Type="http://schemas.openxmlformats.org/officeDocument/2006/relationships/slideLayout" Target="/ppt/slideLayouts/slideLayout8.xml" Id="R6280197de8d245a0" /><Relationship Type="http://schemas.openxmlformats.org/officeDocument/2006/relationships/slideLayout" Target="/ppt/slideLayouts/slideLayout9.xml" Id="Rfd41d5176cbb45fd" /><Relationship Type="http://schemas.openxmlformats.org/officeDocument/2006/relationships/slideLayout" Target="/ppt/slideLayouts/slideLayout10.xml" Id="R7ed23b4716514191" /><Relationship Type="http://schemas.openxmlformats.org/officeDocument/2006/relationships/slideLayout" Target="/ppt/slideLayouts/slideLayout11.xml" Id="R79d03a532bcb44a8" /><Relationship Type="http://schemas.openxmlformats.org/officeDocument/2006/relationships/slideLayout" Target="/ppt/slideLayouts/slideLayout12.xml" Id="Rcd64a931a5ab44ce" /><Relationship Type="http://schemas.openxmlformats.org/officeDocument/2006/relationships/slideLayout" Target="/ppt/slideLayouts/slideLayout13.xml" Id="R97c709206c18420e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7EDE9A1-4731-411A-8350-E0B63DC70C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/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 xmlns:a="http://schemas.openxmlformats.org/drawingml/2006/main"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a049648a6a4e60"/>
    <p:sldLayoutId xmlns:r="http://schemas.openxmlformats.org/officeDocument/2006/relationships" id="2147483650" r:id="R686dd8eaadd2436f"/>
    <p:sldLayoutId xmlns:r="http://schemas.openxmlformats.org/officeDocument/2006/relationships" id="2147483651" r:id="R59bed0176eac4b92"/>
    <p:sldLayoutId xmlns:r="http://schemas.openxmlformats.org/officeDocument/2006/relationships" id="2147483652" r:id="R66c3a4dc32ef4acc"/>
    <p:sldLayoutId xmlns:r="http://schemas.openxmlformats.org/officeDocument/2006/relationships" id="2147483653" r:id="R85bbf24a987841d5"/>
    <p:sldLayoutId xmlns:r="http://schemas.openxmlformats.org/officeDocument/2006/relationships" id="2147483654" r:id="R7a58f3fce72a4c7f"/>
    <p:sldLayoutId xmlns:r="http://schemas.openxmlformats.org/officeDocument/2006/relationships" id="2147483655" r:id="Rf512c2bae6c44e92"/>
    <p:sldLayoutId xmlns:r="http://schemas.openxmlformats.org/officeDocument/2006/relationships" id="2147483656" r:id="R6280197de8d245a0"/>
    <p:sldLayoutId xmlns:r="http://schemas.openxmlformats.org/officeDocument/2006/relationships" id="2147483657" r:id="Rfd41d5176cbb45fd"/>
    <p:sldLayoutId xmlns:r="http://schemas.openxmlformats.org/officeDocument/2006/relationships" id="2147483658" r:id="R7ed23b4716514191"/>
    <p:sldLayoutId xmlns:r="http://schemas.openxmlformats.org/officeDocument/2006/relationships" id="2147483659" r:id="R79d03a532bcb44a8"/>
    <p:sldLayoutId xmlns:r="http://schemas.openxmlformats.org/officeDocument/2006/relationships" id="2147483660" r:id="Rcd64a931a5ab44ce"/>
    <p:sldLayoutId xmlns:r="http://schemas.openxmlformats.org/officeDocument/2006/relationships" id="2147483661" r:id="R97c709206c18420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a95bf9422a4e64" /><Relationship Type="http://schemas.openxmlformats.org/officeDocument/2006/relationships/notesSlide" Target="/ppt/notesSlides/notesSlide1.xml" Id="R3de958726bbd40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264005c5194d4d" /><Relationship Type="http://schemas.openxmlformats.org/officeDocument/2006/relationships/notesSlide" Target="/ppt/notesSlides/notesSlide2.xml" Id="R633a6465e8e744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4f796d2fad446e2" /><Relationship Type="http://schemas.openxmlformats.org/officeDocument/2006/relationships/notesSlide" Target="/ppt/notesSlides/notesSlide3.xml" Id="Ra7eff43db0c849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375cd8692b54b2a" /><Relationship Type="http://schemas.openxmlformats.org/officeDocument/2006/relationships/notesSlide" Target="/ppt/notesSlides/notesSlide4.xml" Id="R4966451d1d0b49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1d27d0062ef4b5d" /><Relationship Type="http://schemas.openxmlformats.org/officeDocument/2006/relationships/notesSlide" Target="/ppt/notesSlides/notesSlide5.xml" Id="R6ecedabe58e84f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242baa11ad64d6f" /><Relationship Type="http://schemas.openxmlformats.org/officeDocument/2006/relationships/notesSlide" Target="/ppt/notesSlides/notesSlide6.xml" Id="Re36ff3ed235342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b4b5efa7bc34fd6" /><Relationship Type="http://schemas.openxmlformats.org/officeDocument/2006/relationships/notesSlide" Target="/ppt/notesSlides/notesSlide7.xml" Id="Rfc8cc319714b42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5771675e54443cb" /><Relationship Type="http://schemas.openxmlformats.org/officeDocument/2006/relationships/notesSlide" Target="/ppt/notesSlides/notesSlide8.xml" Id="R246f82299a5f4a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913e3297b054623" /><Relationship Type="http://schemas.openxmlformats.org/officeDocument/2006/relationships/chart" Target="/ppt/slides/charts/chart1.xml" Id="R2ee9b6849cc44833" /><Relationship Type="http://schemas.openxmlformats.org/officeDocument/2006/relationships/notesSlide" Target="/ppt/notesSlides/notesSlide9.xml" Id="R4d5cd53bdd9847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7b236029b3f4e68" /><Relationship Type="http://schemas.openxmlformats.org/officeDocument/2006/relationships/notesSlide" Target="/ppt/notesSlides/notesSlide10.xml" Id="Rde07ecb2d57747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e158c0664204b93" /><Relationship Type="http://schemas.openxmlformats.org/officeDocument/2006/relationships/notesSlide" Target="/ppt/notesSlides/notesSlide11.xml" Id="R488ed0a0bcbd47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80271b19004484d" /><Relationship Type="http://schemas.openxmlformats.org/officeDocument/2006/relationships/notesSlide" Target="/ppt/notesSlides/notesSlide12.xml" Id="R968047aecb1743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59fefe0f5e142c0" /><Relationship Type="http://schemas.openxmlformats.org/officeDocument/2006/relationships/notesSlide" Target="/ppt/notesSlides/notesSlide13.xml" Id="R4b82f7bd775444d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CFS 初版</c:v>
          </c:tx>
          <c:spPr>
            <a:solidFill xmlns:a="http://schemas.openxmlformats.org/drawingml/2006/main">
              <a:srgbClr val="08A8F6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1 个忙等任务</c:v>
                </c:pt>
                <c:pt idx="1">
                  <c:v>4 个忙等任务</c:v>
                </c:pt>
                <c:pt idx="2">
                  <c:v>4 个忙等任务加 QoS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1.01104</c:v>
                </c:pt>
                <c:pt idx="1">
                  <c:v>0.794656</c:v>
                </c:pt>
                <c:pt idx="2">
                  <c:v>1.043968</c:v>
                </c:pt>
              </c:numCache>
            </c:numRef>
          </c:val>
        </c:ser>
        <c:ser>
          <c:idx val="1"/>
          <c:order val="1"/>
          <c:tx>
            <c:v>EEVDF 初版</c:v>
          </c:tx>
          <c:spPr>
            <a:solidFill xmlns:a="http://schemas.openxmlformats.org/drawingml/2006/main">
              <a:srgbClr val="C46143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1 个忙等任务</c:v>
                </c:pt>
                <c:pt idx="1">
                  <c:v>4 个忙等任务</c:v>
                </c:pt>
                <c:pt idx="2">
                  <c:v>4 个忙等任务加 QoS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4.128048</c:v>
                </c:pt>
                <c:pt idx="1">
                  <c:v>8.496864</c:v>
                </c:pt>
                <c:pt idx="2">
                  <c:v>15.627952</c:v>
                </c:pt>
              </c:numCache>
            </c:numRef>
          </c:val>
        </c:ser>
        <c:ser>
          <c:idx val="2"/>
          <c:order val="2"/>
          <c:tx>
            <c:v>4 ms + HRTICK</c:v>
          </c:tx>
          <c:spPr>
            <a:solidFill xmlns:a="http://schemas.openxmlformats.org/drawingml/2006/main">
              <a:srgbClr val="23845A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1 个忙等任务</c:v>
                </c:pt>
                <c:pt idx="1">
                  <c:v>4 个忙等任务</c:v>
                </c:pt>
                <c:pt idx="2">
                  <c:v>4 个忙等任务加 QoS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4.192512</c:v>
                </c:pt>
                <c:pt idx="1">
                  <c:v>9.56264</c:v>
                </c:pt>
                <c:pt idx="2">
                  <c:v>9.474016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4">
            <a:extLst xmlns:a="http://schemas.openxmlformats.org/drawingml/2006/main">
              <a:ext uri="{FF2B5EF4-FFF2-40B4-BE49-F238E27FC236}">
                <a16:creationId xmlns:a16="http://schemas.microsoft.com/office/drawing/2014/main" id="{110244E1-8587-4FC2-96A2-D3ADF1BD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6477000" cy="10721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650">
                <a:latin typeface="微软雅黑"/>
                <a:ea typeface="微软雅黑"/>
                <a:cs typeface="微软雅黑"/>
              </a:defRPr>
            </a:defPPr>
            <a:lvl1pPr>
              <a:defRPr sz="1650">
                <a:latin typeface="微软雅黑"/>
                <a:ea typeface="微软雅黑"/>
                <a:cs typeface="微软雅黑"/>
              </a:defRPr>
            </a:lvl1pPr>
            <a:lvl2pPr>
              <a:defRPr sz="1650">
                <a:latin typeface="微软雅黑"/>
                <a:ea typeface="微软雅黑"/>
                <a:cs typeface="微软雅黑"/>
              </a:defRPr>
            </a:lvl2pPr>
            <a:lvl3pPr>
              <a:defRPr sz="1650">
                <a:latin typeface="微软雅黑"/>
                <a:ea typeface="微软雅黑"/>
                <a:cs typeface="微软雅黑"/>
              </a:defRPr>
            </a:lvl3pPr>
            <a:lvl4pPr>
              <a:defRPr sz="1650">
                <a:latin typeface="微软雅黑"/>
                <a:ea typeface="微软雅黑"/>
                <a:cs typeface="微软雅黑"/>
              </a:defRPr>
            </a:lvl4pPr>
            <a:lvl5pPr>
              <a:defRPr sz="1650">
                <a:latin typeface="微软雅黑"/>
                <a:ea typeface="微软雅黑"/>
                <a:cs typeface="微软雅黑"/>
              </a:defRPr>
            </a:lvl5pPr>
            <a:lvl6pPr>
              <a:defRPr sz="1650">
                <a:latin typeface="微软雅黑"/>
                <a:ea typeface="微软雅黑"/>
                <a:cs typeface="微软雅黑"/>
              </a:defRPr>
            </a:lvl6pPr>
            <a:lvl7pPr>
              <a:defRPr sz="1650">
                <a:latin typeface="微软雅黑"/>
                <a:ea typeface="微软雅黑"/>
                <a:cs typeface="微软雅黑"/>
              </a:defRPr>
            </a:lvl7pPr>
            <a:lvl8pPr>
              <a:defRPr sz="1650">
                <a:latin typeface="微软雅黑"/>
                <a:ea typeface="微软雅黑"/>
                <a:cs typeface="微软雅黑"/>
              </a:defRPr>
            </a:lvl8pPr>
            <a:lvl9pPr>
              <a:defRPr sz="16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>
                <a:latin typeface="微软雅黑"/>
                <a:ea typeface="微软雅黑"/>
                <a:cs typeface="微软雅黑"/>
              </a:rPr>
              <a:t>我是谁我在哪团队</a:t>
            </a:r>
            <a:endParaRPr sz="16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>
                <a:latin typeface="微软雅黑"/>
                <a:ea typeface="微软雅黑"/>
                <a:cs typeface="微软雅黑"/>
              </a:rPr>
              <a:t>蔡一鸣  青岛大学  指导老师 李强</a:t>
            </a:r>
            <a:endParaRPr sz="14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>
                <a:latin typeface="微软雅黑"/>
                <a:ea typeface="微软雅黑"/>
                <a:cs typeface="微软雅黑"/>
              </a:rPr>
              <a:t>2026 年 10 月 30 日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B8F6E65-7B83-4387-B45A-243717C0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619250"/>
            <a:ext cx="10477500" cy="1074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225">
                <a:latin typeface="微软雅黑"/>
                <a:ea typeface="微软雅黑"/>
                <a:cs typeface="微软雅黑"/>
              </a:defRPr>
            </a:defPPr>
            <a:lvl1pPr>
              <a:defRPr sz="3225">
                <a:latin typeface="微软雅黑"/>
                <a:ea typeface="微软雅黑"/>
                <a:cs typeface="微软雅黑"/>
              </a:defRPr>
            </a:lvl1pPr>
            <a:lvl2pPr>
              <a:defRPr sz="3225">
                <a:latin typeface="微软雅黑"/>
                <a:ea typeface="微软雅黑"/>
                <a:cs typeface="微软雅黑"/>
              </a:defRPr>
            </a:lvl2pPr>
            <a:lvl3pPr>
              <a:defRPr sz="3225">
                <a:latin typeface="微软雅黑"/>
                <a:ea typeface="微软雅黑"/>
                <a:cs typeface="微软雅黑"/>
              </a:defRPr>
            </a:lvl3pPr>
            <a:lvl4pPr>
              <a:defRPr sz="3225">
                <a:latin typeface="微软雅黑"/>
                <a:ea typeface="微软雅黑"/>
                <a:cs typeface="微软雅黑"/>
              </a:defRPr>
            </a:lvl4pPr>
            <a:lvl5pPr>
              <a:defRPr sz="3225">
                <a:latin typeface="微软雅黑"/>
                <a:ea typeface="微软雅黑"/>
                <a:cs typeface="微软雅黑"/>
              </a:defRPr>
            </a:lvl5pPr>
            <a:lvl6pPr>
              <a:defRPr sz="3225">
                <a:latin typeface="微软雅黑"/>
                <a:ea typeface="微软雅黑"/>
                <a:cs typeface="微软雅黑"/>
              </a:defRPr>
            </a:lvl6pPr>
            <a:lvl7pPr>
              <a:defRPr sz="3225">
                <a:latin typeface="微软雅黑"/>
                <a:ea typeface="微软雅黑"/>
                <a:cs typeface="微软雅黑"/>
              </a:defRPr>
            </a:lvl7pPr>
            <a:lvl8pPr>
              <a:defRPr sz="3225">
                <a:latin typeface="微软雅黑"/>
                <a:ea typeface="微软雅黑"/>
                <a:cs typeface="微软雅黑"/>
              </a:defRPr>
            </a:lvl8pPr>
            <a:lvl9pPr>
              <a:defRPr sz="3225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spcBef>
                <a:spcPct val="1"/>
              </a:spcBef>
              <a:spcAft>
                <a:spcPct val="1"/>
              </a:spcAft>
              <a:buNone/>
              <a:defRPr sz="3225"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2026 开源鸿蒙大学生创新大赛</a:t>
            </a:r>
            <a:endParaRPr sz="48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spcBef>
                <a:spcPct val="1"/>
              </a:spcBef>
              <a:spcAft>
                <a:spcPct val="1"/>
              </a:spcAft>
              <a:buNone/>
              <a:defRPr sz="3225"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赛道一 系统与技术创新</a:t>
            </a:r>
            <a:endParaRPr sz="48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1A478F9-7581-45F7-A066-AA3AC7A9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48000"/>
            <a:ext cx="8382000" cy="9372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775">
                <a:latin typeface="微软雅黑"/>
                <a:ea typeface="微软雅黑"/>
                <a:cs typeface="微软雅黑"/>
              </a:defRPr>
            </a:defPPr>
            <a:lvl1pPr>
              <a:defRPr sz="2775">
                <a:latin typeface="微软雅黑"/>
                <a:ea typeface="微软雅黑"/>
                <a:cs typeface="微软雅黑"/>
              </a:defRPr>
            </a:lvl1pPr>
            <a:lvl2pPr>
              <a:defRPr sz="2775">
                <a:latin typeface="微软雅黑"/>
                <a:ea typeface="微软雅黑"/>
                <a:cs typeface="微软雅黑"/>
              </a:defRPr>
            </a:lvl2pPr>
            <a:lvl3pPr>
              <a:defRPr sz="2775">
                <a:latin typeface="微软雅黑"/>
                <a:ea typeface="微软雅黑"/>
                <a:cs typeface="微软雅黑"/>
              </a:defRPr>
            </a:lvl3pPr>
            <a:lvl4pPr>
              <a:defRPr sz="2775">
                <a:latin typeface="微软雅黑"/>
                <a:ea typeface="微软雅黑"/>
                <a:cs typeface="微软雅黑"/>
              </a:defRPr>
            </a:lvl4pPr>
            <a:lvl5pPr>
              <a:defRPr sz="2775">
                <a:latin typeface="微软雅黑"/>
                <a:ea typeface="微软雅黑"/>
                <a:cs typeface="微软雅黑"/>
              </a:defRPr>
            </a:lvl5pPr>
            <a:lvl6pPr>
              <a:defRPr sz="2775">
                <a:latin typeface="微软雅黑"/>
                <a:ea typeface="微软雅黑"/>
                <a:cs typeface="微软雅黑"/>
              </a:defRPr>
            </a:lvl6pPr>
            <a:lvl7pPr>
              <a:defRPr sz="2775">
                <a:latin typeface="微软雅黑"/>
                <a:ea typeface="微软雅黑"/>
                <a:cs typeface="微软雅黑"/>
              </a:defRPr>
            </a:lvl7pPr>
            <a:lvl8pPr>
              <a:defRPr sz="2775">
                <a:latin typeface="微软雅黑"/>
                <a:ea typeface="微软雅黑"/>
                <a:cs typeface="微软雅黑"/>
              </a:defRPr>
            </a:lvl8pPr>
            <a:lvl9pPr>
              <a:defRPr sz="2775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spcBef>
                <a:spcPct val="1"/>
              </a:spcBef>
              <a:spcAft>
                <a:spcPct val="1"/>
              </a:spcAft>
              <a:buNone/>
              <a:defRPr sz="2775">
                <a:latin typeface="微软雅黑"/>
                <a:ea typeface="微软雅黑"/>
                <a:cs typeface="微软雅黑"/>
              </a:defRPr>
            </a:pPr>
            <a:r>
              <a:rPr sz="2775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OpenHarmony Linux 5.10 的</a:t>
            </a:r>
            <a:endParaRPr sz="280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spcBef>
                <a:spcPct val="1"/>
              </a:spcBef>
              <a:spcAft>
                <a:spcPct val="1"/>
              </a:spcAft>
              <a:buNone/>
              <a:defRPr sz="2775">
                <a:latin typeface="微软雅黑"/>
                <a:ea typeface="微软雅黑"/>
                <a:cs typeface="微软雅黑"/>
              </a:defRPr>
            </a:pPr>
            <a:r>
              <a:rPr sz="2775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EEVDF 移植与 QoS 调度验证</a:t>
            </a:r>
            <a:endParaRPr sz="280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079243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BDCC2195-C58A-4089-A206-3FEE6F57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964" y="213821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01</a:t>
            </a:r>
            <a:endParaRPr/>
          </a:p>
        </p:txBody>
      </p:sp>
      <p:sp>
        <p:nvSpPr>
          <p:cNvPr id="7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77BFB971-0EE0-49D1-9732-B7FEAE47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3076107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ln>
                  <a:noFill/>
                </a:ln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移植与正确性验证</a:t>
            </a:r>
            <a:endParaRPr/>
          </a:p>
        </p:txBody>
      </p:sp>
      <p:sp>
        <p:nvSpPr>
          <p:cNvPr id="8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9E52322D-AA82-48FC-ABDC-12EDE92B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063407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02</a:t>
            </a:r>
            <a:endParaRPr/>
          </a:p>
        </p:txBody>
      </p:sp>
      <p:sp>
        <p:nvSpPr>
          <p:cNvPr id="9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88BD9347-DDBF-4872-9266-8A3A68BC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400130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ln>
                  <a:noFill/>
                </a:ln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性能对照与交付边界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D4C7B557-C0DE-4F98-9FC1-9BD720AC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98860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03</a:t>
            </a:r>
            <a:endParaRPr/>
          </a:p>
        </p:txBody>
      </p:sp>
      <p:sp>
        <p:nvSpPr>
          <p:cNvPr id="11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0FB2DD4B-FB9B-446E-A066-01F6E1C0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44" y="213821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需求与调度机制</a:t>
            </a:r>
            <a:endParaRPr/>
          </a:p>
        </p:txBody>
      </p:sp>
      <p:sp>
        <p:nvSpPr>
          <p:cNvPr id="12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2644CE08-2F1A-4686-A24B-E376797567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fld id="{49AE70B2-8BF9-45C0-BB95-33D1B9D3A854}" type="slidenum">
              <a:rPr>
                <a:latin typeface="微软雅黑"/>
                <a:ea typeface="微软雅黑"/>
                <a:cs typeface="微软雅黑"/>
              </a:rPr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20301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BDB20618-E264-4A1D-B54A-2EC1BA87AF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fld id="{202359C0-8A7A-196E-DD58-8E6569619F09}" type="slidenum">
              <a:rPr>
                <a:latin typeface="微软雅黑"/>
                <a:ea typeface="微软雅黑"/>
                <a:cs typeface="微软雅黑"/>
              </a:rPr>
              <a:t>3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89C7E0F-A4E1-487C-A709-42D5ABC3348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28600" y="200025"/>
            <a:ext cx="9144000" cy="476250"/>
          </a:xfrm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>
                <a:latin typeface="微软雅黑"/>
                <a:ea typeface="微软雅黑"/>
                <a:cs typeface="微软雅黑"/>
              </a:defRPr>
            </a:defPPr>
            <a:lvl1pPr>
              <a:defRPr sz="2250">
                <a:latin typeface="微软雅黑"/>
                <a:ea typeface="微软雅黑"/>
                <a:cs typeface="微软雅黑"/>
              </a:defRPr>
            </a:lvl1pPr>
            <a:lvl2pPr>
              <a:defRPr sz="2250">
                <a:latin typeface="微软雅黑"/>
                <a:ea typeface="微软雅黑"/>
                <a:cs typeface="微软雅黑"/>
              </a:defRPr>
            </a:lvl2pPr>
            <a:lvl3pPr>
              <a:defRPr sz="2250">
                <a:latin typeface="微软雅黑"/>
                <a:ea typeface="微软雅黑"/>
                <a:cs typeface="微软雅黑"/>
              </a:defRPr>
            </a:lvl3pPr>
            <a:lvl4pPr>
              <a:defRPr sz="2250">
                <a:latin typeface="微软雅黑"/>
                <a:ea typeface="微软雅黑"/>
                <a:cs typeface="微软雅黑"/>
              </a:defRPr>
            </a:lvl4pPr>
            <a:lvl5pPr>
              <a:defRPr sz="2250">
                <a:latin typeface="微软雅黑"/>
                <a:ea typeface="微软雅黑"/>
                <a:cs typeface="微软雅黑"/>
              </a:defRPr>
            </a:lvl5pPr>
            <a:lvl6pPr>
              <a:defRPr sz="2250">
                <a:latin typeface="微软雅黑"/>
                <a:ea typeface="微软雅黑"/>
                <a:cs typeface="微软雅黑"/>
              </a:defRPr>
            </a:lvl6pPr>
            <a:lvl7pPr>
              <a:defRPr sz="2250">
                <a:latin typeface="微软雅黑"/>
                <a:ea typeface="微软雅黑"/>
                <a:cs typeface="微软雅黑"/>
              </a:defRPr>
            </a:lvl7pPr>
            <a:lvl8pPr>
              <a:defRPr sz="2250">
                <a:latin typeface="微软雅黑"/>
                <a:ea typeface="微软雅黑"/>
                <a:cs typeface="微软雅黑"/>
              </a:defRPr>
            </a:lvl8pPr>
            <a:lvl9pPr>
              <a:defRPr sz="22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目标是在既有系统中接入新的公平调度机制</a:t>
            </a:r>
            <a:endParaRPr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4AEEF-E8E7-4350-9C75-79EC929C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OpenHarmony 5.0.1 使用 Linux 5.10.208，目标平台为 ARM64。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1B98F-1B21-4417-9B58-C88D128E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EEVDF 以资格和虚拟截止期决定实体选择。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8E230-7398-4197-B840-5532C661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已有 QoS 字段提供等级，新增适配使其控制请求长度。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A290B-63B2-4FC7-BAE3-B84A2B80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验收分为机制正确性和性能评价，分别给出证据。</a:t>
            </a:r>
          </a:p>
        </p:txBody>
      </p:sp>
    </p:spTree>
    <p:extLst>
      <p:ext uri="{BB962C8B-B14F-4D97-AF65-F5344CB8AC3E}">
        <p14:creationId xmlns:p14="http://schemas.microsoft.com/office/powerpoint/2010/main" val="8200401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16AF7B09-7000-413C-ACC7-136F65D548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fld id="{EFD6AB9A-5F9E-5F59-51AB-3C8734130965}" type="slidenum">
              <a:rPr>
                <a:latin typeface="微软雅黑"/>
                <a:ea typeface="微软雅黑"/>
                <a:cs typeface="微软雅黑"/>
              </a:rPr>
              <a:t>4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F582211-AE7B-4FC7-92C6-0595A874378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28600" y="200025"/>
            <a:ext cx="9144000" cy="476250"/>
          </a:xfrm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>
                <a:latin typeface="微软雅黑"/>
                <a:ea typeface="微软雅黑"/>
                <a:cs typeface="微软雅黑"/>
              </a:defRPr>
            </a:defPPr>
            <a:lvl1pPr>
              <a:defRPr sz="2250">
                <a:latin typeface="微软雅黑"/>
                <a:ea typeface="微软雅黑"/>
                <a:cs typeface="微软雅黑"/>
              </a:defRPr>
            </a:lvl1pPr>
            <a:lvl2pPr>
              <a:defRPr sz="2250">
                <a:latin typeface="微软雅黑"/>
                <a:ea typeface="微软雅黑"/>
                <a:cs typeface="微软雅黑"/>
              </a:defRPr>
            </a:lvl2pPr>
            <a:lvl3pPr>
              <a:defRPr sz="2250">
                <a:latin typeface="微软雅黑"/>
                <a:ea typeface="微软雅黑"/>
                <a:cs typeface="微软雅黑"/>
              </a:defRPr>
            </a:lvl3pPr>
            <a:lvl4pPr>
              <a:defRPr sz="2250">
                <a:latin typeface="微软雅黑"/>
                <a:ea typeface="微软雅黑"/>
                <a:cs typeface="微软雅黑"/>
              </a:defRPr>
            </a:lvl4pPr>
            <a:lvl5pPr>
              <a:defRPr sz="2250">
                <a:latin typeface="微软雅黑"/>
                <a:ea typeface="微软雅黑"/>
                <a:cs typeface="微软雅黑"/>
              </a:defRPr>
            </a:lvl5pPr>
            <a:lvl6pPr>
              <a:defRPr sz="2250">
                <a:latin typeface="微软雅黑"/>
                <a:ea typeface="微软雅黑"/>
                <a:cs typeface="微软雅黑"/>
              </a:defRPr>
            </a:lvl6pPr>
            <a:lvl7pPr>
              <a:defRPr sz="2250">
                <a:latin typeface="微软雅黑"/>
                <a:ea typeface="微软雅黑"/>
                <a:cs typeface="微软雅黑"/>
              </a:defRPr>
            </a:lvl7pPr>
            <a:lvl8pPr>
              <a:defRPr sz="2250">
                <a:latin typeface="微软雅黑"/>
                <a:ea typeface="微软雅黑"/>
                <a:cs typeface="微软雅黑"/>
              </a:defRPr>
            </a:lvl8pPr>
            <a:lvl9pPr>
              <a:defRPr sz="22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短请求生效的前提是任务具备运行资格</a:t>
            </a:r>
            <a:endParaRPr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84726-67FA-426F-88D5-58DB3601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V 表示队列的平均虚拟时间，v 表示实体虚拟运行时间。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5D496-F711-442E-B8F5-DE3DAD7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lag 反映实体已获服务与应获份额之间的差异。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D83F0-E9AF-440E-AACB-A01508CF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调度器从 eligible 实体中选择最早虚拟 deadline。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99E5F-2278-48F1-87A8-003DAE8C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nice 控制权重，slice 控制请求粒度，两者承担不同作用。</a:t>
            </a:r>
          </a:p>
        </p:txBody>
      </p:sp>
    </p:spTree>
    <p:extLst>
      <p:ext uri="{BB962C8B-B14F-4D97-AF65-F5344CB8AC3E}">
        <p14:creationId xmlns:p14="http://schemas.microsoft.com/office/powerpoint/2010/main" val="2477408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F265A2EE-7551-4B77-9D13-DEECC1E33F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fld id="{EE5B3003-2C54-13C6-9832-7637201064DE}" type="slidenum">
              <a:rPr>
                <a:latin typeface="微软雅黑"/>
                <a:ea typeface="微软雅黑"/>
                <a:cs typeface="微软雅黑"/>
              </a:rPr>
              <a:t>5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DE7E105-AB34-40D6-8F8D-635FD605C15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28600" y="200025"/>
            <a:ext cx="9144000" cy="476250"/>
          </a:xfrm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>
                <a:latin typeface="微软雅黑"/>
                <a:ea typeface="微软雅黑"/>
                <a:cs typeface="微软雅黑"/>
              </a:defRPr>
            </a:defPPr>
            <a:lvl1pPr>
              <a:defRPr sz="2250">
                <a:latin typeface="微软雅黑"/>
                <a:ea typeface="微软雅黑"/>
                <a:cs typeface="微软雅黑"/>
              </a:defRPr>
            </a:lvl1pPr>
            <a:lvl2pPr>
              <a:defRPr sz="2250">
                <a:latin typeface="微软雅黑"/>
                <a:ea typeface="微软雅黑"/>
                <a:cs typeface="微软雅黑"/>
              </a:defRPr>
            </a:lvl2pPr>
            <a:lvl3pPr>
              <a:defRPr sz="2250">
                <a:latin typeface="微软雅黑"/>
                <a:ea typeface="微软雅黑"/>
                <a:cs typeface="微软雅黑"/>
              </a:defRPr>
            </a:lvl3pPr>
            <a:lvl4pPr>
              <a:defRPr sz="2250">
                <a:latin typeface="微软雅黑"/>
                <a:ea typeface="微软雅黑"/>
                <a:cs typeface="微软雅黑"/>
              </a:defRPr>
            </a:lvl4pPr>
            <a:lvl5pPr>
              <a:defRPr sz="2250">
                <a:latin typeface="微软雅黑"/>
                <a:ea typeface="微软雅黑"/>
                <a:cs typeface="微软雅黑"/>
              </a:defRPr>
            </a:lvl5pPr>
            <a:lvl6pPr>
              <a:defRPr sz="2250">
                <a:latin typeface="微软雅黑"/>
                <a:ea typeface="微软雅黑"/>
                <a:cs typeface="微软雅黑"/>
              </a:defRPr>
            </a:lvl6pPr>
            <a:lvl7pPr>
              <a:defRPr sz="2250">
                <a:latin typeface="微软雅黑"/>
                <a:ea typeface="微软雅黑"/>
                <a:cs typeface="微软雅黑"/>
              </a:defRPr>
            </a:lvl7pPr>
            <a:lvl8pPr>
              <a:defRPr sz="2250">
                <a:latin typeface="微软雅黑"/>
                <a:ea typeface="微软雅黑"/>
                <a:cs typeface="微软雅黑"/>
              </a:defRPr>
            </a:lvl8pPr>
            <a:lvl9pPr>
              <a:defRPr sz="22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QoS 等级映射为 1 至 14 ms 请求</a:t>
            </a:r>
            <a:endParaRPr/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F0586-DD8E-456C-BF89-2CC6ACE357D4}"/>
              </a:ext>
            </a:extLst>
          </p:cNvPr>
          <p:cNvGraphicFramePr/>
          <p:nvPr/>
        </p:nvGraphicFramePr>
        <p:xfrm>
          <a:off xmlns:a="http://schemas.openxmlformats.org/drawingml/2006/main" x="723900" y="1657350"/>
          <a:ext xmlns:a="http://schemas.openxmlformats.org/drawingml/2006/main" cx="107442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810250"/>
                <a:gridCol w="2838450"/>
              </a:tblGrid>
              <a:tr h="51196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QoS 等级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T w="9525">
                      <a:solidFill>
                        <a:srgbClr val="D9E1E7"/>
                      </a:solidFill>
                      <a:prstDash val="solid"/>
                    </a:lnT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E3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T w="9525">
                      <a:solidFill>
                        <a:srgbClr val="D9E1E7"/>
                      </a:solidFill>
                      <a:prstDash val="solid"/>
                    </a:lnT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E3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slice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T w="9525">
                      <a:solidFill>
                        <a:srgbClr val="D9E1E7"/>
                      </a:solidFill>
                      <a:prstDash val="solid"/>
                    </a:lnT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E3F5FD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BACKGROUND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UTILITY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DEFAULT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USER_INITIATED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DEADLINE_REQUEST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USER_INTERACTIVE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KEY_BACKGROUND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59FAD-1383-4EEA-BA4E-05B608DC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rPr>
              <a:t>无效等级使用默认粒度。运行时开关可单独关闭映射。</a:t>
            </a:r>
          </a:p>
        </p:txBody>
      </p:sp>
    </p:spTree>
    <p:extLst>
      <p:ext uri="{BB962C8B-B14F-4D97-AF65-F5344CB8AC3E}">
        <p14:creationId xmlns:p14="http://schemas.microsoft.com/office/powerpoint/2010/main" val="4559665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7CA0536B-F808-45F8-919A-D5C0DC216B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fld id="{8C630A04-5A25-9E0C-9436-126091DB86B3}" type="slidenum">
              <a:rPr>
                <a:latin typeface="微软雅黑"/>
                <a:ea typeface="微软雅黑"/>
                <a:cs typeface="微软雅黑"/>
              </a:rPr>
              <a:t>6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708B80C-27B3-4475-B967-A1678E7B603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28600" y="200025"/>
            <a:ext cx="9144000" cy="476250"/>
          </a:xfrm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>
                <a:latin typeface="微软雅黑"/>
                <a:ea typeface="微软雅黑"/>
                <a:cs typeface="微软雅黑"/>
              </a:defRPr>
            </a:defPPr>
            <a:lvl1pPr>
              <a:defRPr sz="2250">
                <a:latin typeface="微软雅黑"/>
                <a:ea typeface="微软雅黑"/>
                <a:cs typeface="微软雅黑"/>
              </a:defRPr>
            </a:lvl1pPr>
            <a:lvl2pPr>
              <a:defRPr sz="2250">
                <a:latin typeface="微软雅黑"/>
                <a:ea typeface="微软雅黑"/>
                <a:cs typeface="微软雅黑"/>
              </a:defRPr>
            </a:lvl2pPr>
            <a:lvl3pPr>
              <a:defRPr sz="2250">
                <a:latin typeface="微软雅黑"/>
                <a:ea typeface="微软雅黑"/>
                <a:cs typeface="微软雅黑"/>
              </a:defRPr>
            </a:lvl3pPr>
            <a:lvl4pPr>
              <a:defRPr sz="2250">
                <a:latin typeface="微软雅黑"/>
                <a:ea typeface="微软雅黑"/>
                <a:cs typeface="微软雅黑"/>
              </a:defRPr>
            </a:lvl4pPr>
            <a:lvl5pPr>
              <a:defRPr sz="2250">
                <a:latin typeface="微软雅黑"/>
                <a:ea typeface="微软雅黑"/>
                <a:cs typeface="微软雅黑"/>
              </a:defRPr>
            </a:lvl5pPr>
            <a:lvl6pPr>
              <a:defRPr sz="2250">
                <a:latin typeface="微软雅黑"/>
                <a:ea typeface="微软雅黑"/>
                <a:cs typeface="微软雅黑"/>
              </a:defRPr>
            </a:lvl6pPr>
            <a:lvl7pPr>
              <a:defRPr sz="2250">
                <a:latin typeface="微软雅黑"/>
                <a:ea typeface="微软雅黑"/>
                <a:cs typeface="微软雅黑"/>
              </a:defRPr>
            </a:lvl7pPr>
            <a:lvl8pPr>
              <a:defRPr sz="2250">
                <a:latin typeface="微软雅黑"/>
                <a:ea typeface="微软雅黑"/>
                <a:cs typeface="微软雅黑"/>
              </a:defRPr>
            </a:lvl8pPr>
            <a:lvl9pPr>
              <a:defRPr sz="22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移植重点在实体生命周期与组调度一致性</a:t>
            </a:r>
            <a:endParaRPr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08FCD-33F6-4C87-A9C1-A6F82AD4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增强红黑树维护子树最小 deadline，队列维护加权平均值。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83230-3F6A-45C1-AB58-D87811DD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fork 子任务清零 vlag，避免继承父任务暂存的 deadline。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C82159-9C24-4077-8B79-B109EBE8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组实体改权重前计算包含自身的 V，按新权重保持 lag。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331C2E-4D16-4A67-BF1D-CD17546E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同步适配 tick、hrtick 和 yield，修复 QoS-only 构建条件。</a:t>
            </a:r>
          </a:p>
        </p:txBody>
      </p:sp>
    </p:spTree>
    <p:extLst>
      <p:ext uri="{BB962C8B-B14F-4D97-AF65-F5344CB8AC3E}">
        <p14:creationId xmlns:p14="http://schemas.microsoft.com/office/powerpoint/2010/main" val="12574122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150F6EB8-DE8A-49F9-B957-28D3279E81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fld id="{D3D7D1C8-AE23-AA48-DF65-C742588DBE47}" type="slidenum">
              <a:rPr>
                <a:latin typeface="微软雅黑"/>
                <a:ea typeface="微软雅黑"/>
                <a:cs typeface="微软雅黑"/>
              </a:rPr>
              <a:t>7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6ED3D14-7E5F-462D-9FAB-DAA4767B388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28600" y="200025"/>
            <a:ext cx="9144000" cy="476250"/>
          </a:xfrm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>
                <a:latin typeface="微软雅黑"/>
                <a:ea typeface="微软雅黑"/>
                <a:cs typeface="微软雅黑"/>
              </a:defRPr>
            </a:defPPr>
            <a:lvl1pPr>
              <a:defRPr sz="2250">
                <a:latin typeface="微软雅黑"/>
                <a:ea typeface="微软雅黑"/>
                <a:cs typeface="微软雅黑"/>
              </a:defRPr>
            </a:lvl1pPr>
            <a:lvl2pPr>
              <a:defRPr sz="2250">
                <a:latin typeface="微软雅黑"/>
                <a:ea typeface="微软雅黑"/>
                <a:cs typeface="微软雅黑"/>
              </a:defRPr>
            </a:lvl2pPr>
            <a:lvl3pPr>
              <a:defRPr sz="2250">
                <a:latin typeface="微软雅黑"/>
                <a:ea typeface="微软雅黑"/>
                <a:cs typeface="微软雅黑"/>
              </a:defRPr>
            </a:lvl3pPr>
            <a:lvl4pPr>
              <a:defRPr sz="2250">
                <a:latin typeface="微软雅黑"/>
                <a:ea typeface="微软雅黑"/>
                <a:cs typeface="微软雅黑"/>
              </a:defRPr>
            </a:lvl4pPr>
            <a:lvl5pPr>
              <a:defRPr sz="2250">
                <a:latin typeface="微软雅黑"/>
                <a:ea typeface="微软雅黑"/>
                <a:cs typeface="微软雅黑"/>
              </a:defRPr>
            </a:lvl5pPr>
            <a:lvl6pPr>
              <a:defRPr sz="2250">
                <a:latin typeface="微软雅黑"/>
                <a:ea typeface="微软雅黑"/>
                <a:cs typeface="微软雅黑"/>
              </a:defRPr>
            </a:lvl6pPr>
            <a:lvl7pPr>
              <a:defRPr sz="2250">
                <a:latin typeface="微软雅黑"/>
                <a:ea typeface="微软雅黑"/>
                <a:cs typeface="微软雅黑"/>
              </a:defRPr>
            </a:lvl7pPr>
            <a:lvl8pPr>
              <a:defRPr sz="2250">
                <a:latin typeface="微软雅黑"/>
                <a:ea typeface="微软雅黑"/>
                <a:cs typeface="微软雅黑"/>
              </a:defRPr>
            </a:lvl8pPr>
            <a:lvl9pPr>
              <a:defRPr sz="22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四项机制检查在本次复测中通过</a:t>
            </a:r>
            <a:endParaRPr/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B6548-3FB0-4097-B5F0-A6258F925BC7}"/>
              </a:ext>
            </a:extLst>
          </p:cNvPr>
          <p:cNvGraphicFramePr/>
          <p:nvPr/>
        </p:nvGraphicFramePr>
        <p:xfrm>
          <a:off xmlns:a="http://schemas.openxmlformats.org/drawingml/2006/main" x="723900" y="1752600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41045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T w="9525">
                      <a:solidFill>
                        <a:srgbClr val="D9E1E7"/>
                      </a:solidFill>
                      <a:prstDash val="solid"/>
                    </a:lnT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E3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本次结果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T w="9525">
                      <a:solidFill>
                        <a:srgbClr val="D9E1E7"/>
                      </a:solidFill>
                      <a:prstDash val="solid"/>
                    </a:lnT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E3F5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QoS 开关对照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选中比例 1.00 变为 4.25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fork 16 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子任务最大 lag 2.67 ms，低于 20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reweight 189 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次越界，最大 V 漂移 8 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 秒全量扫描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2141 次扫描，8600 队列，0 项不一致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564F9-9C84-49C8-8160-5C623498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rPr>
              <a:t>历史反证测试能触发 fork 和 reweight 失败，详见开发记录。</a:t>
            </a:r>
          </a:p>
        </p:txBody>
      </p:sp>
    </p:spTree>
    <p:extLst>
      <p:ext uri="{BB962C8B-B14F-4D97-AF65-F5344CB8AC3E}">
        <p14:creationId xmlns:p14="http://schemas.microsoft.com/office/powerpoint/2010/main" val="16710132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9EC9EE91-F077-4AE6-A07E-1D5D403B9A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fld id="{BA58DA2A-B818-18A9-29C1-B697728D5BCE}" type="slidenum">
              <a:rPr>
                <a:latin typeface="微软雅黑"/>
                <a:ea typeface="微软雅黑"/>
                <a:cs typeface="微软雅黑"/>
              </a:rPr>
              <a:t>8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5E711A4-C6FE-4E62-89BD-802E9F1A1FA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28600" y="200025"/>
            <a:ext cx="9144000" cy="476250"/>
          </a:xfrm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>
                <a:latin typeface="微软雅黑"/>
                <a:ea typeface="微软雅黑"/>
                <a:cs typeface="微软雅黑"/>
              </a:defRPr>
            </a:defPPr>
            <a:lvl1pPr>
              <a:defRPr sz="2250">
                <a:latin typeface="微软雅黑"/>
                <a:ea typeface="微软雅黑"/>
                <a:cs typeface="微软雅黑"/>
              </a:defRPr>
            </a:lvl1pPr>
            <a:lvl2pPr>
              <a:defRPr sz="2250">
                <a:latin typeface="微软雅黑"/>
                <a:ea typeface="微软雅黑"/>
                <a:cs typeface="微软雅黑"/>
              </a:defRPr>
            </a:lvl2pPr>
            <a:lvl3pPr>
              <a:defRPr sz="2250">
                <a:latin typeface="微软雅黑"/>
                <a:ea typeface="微软雅黑"/>
                <a:cs typeface="微软雅黑"/>
              </a:defRPr>
            </a:lvl3pPr>
            <a:lvl4pPr>
              <a:defRPr sz="2250">
                <a:latin typeface="微软雅黑"/>
                <a:ea typeface="微软雅黑"/>
                <a:cs typeface="微软雅黑"/>
              </a:defRPr>
            </a:lvl4pPr>
            <a:lvl5pPr>
              <a:defRPr sz="2250">
                <a:latin typeface="微软雅黑"/>
                <a:ea typeface="微软雅黑"/>
                <a:cs typeface="微软雅黑"/>
              </a:defRPr>
            </a:lvl5pPr>
            <a:lvl6pPr>
              <a:defRPr sz="2250">
                <a:latin typeface="微软雅黑"/>
                <a:ea typeface="微软雅黑"/>
                <a:cs typeface="微软雅黑"/>
              </a:defRPr>
            </a:lvl6pPr>
            <a:lvl7pPr>
              <a:defRPr sz="2250">
                <a:latin typeface="微软雅黑"/>
                <a:ea typeface="微软雅黑"/>
                <a:cs typeface="微软雅黑"/>
              </a:defRPr>
            </a:lvl7pPr>
            <a:lvl8pPr>
              <a:defRPr sz="2250">
                <a:latin typeface="微软雅黑"/>
                <a:ea typeface="微软雅黑"/>
                <a:cs typeface="微软雅黑"/>
              </a:defRPr>
            </a:lvl8pPr>
            <a:lvl9pPr>
              <a:defRPr sz="22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选择频率改变，CPU 时间仍接近相等</a:t>
            </a:r>
            <a:endParaRPr/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6DCDB-ED06-477F-925E-7DADE9ABA2E5}"/>
              </a:ext>
            </a:extLst>
          </p:cNvPr>
          <p:cNvGraphicFramePr/>
          <p:nvPr/>
        </p:nvGraphicFramePr>
        <p:xfrm>
          <a:off xmlns:a="http://schemas.openxmlformats.org/drawingml/2006/main" x="723900" y="1866900"/>
          <a:ext xmlns:a="http://schemas.openxmlformats.org/drawingml/2006/main" cx="107442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286000"/>
                <a:gridCol w="2286000"/>
                <a:gridCol w="3124200"/>
              </a:tblGrid>
              <a:tr h="777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T w="9525">
                      <a:solidFill>
                        <a:srgbClr val="D9E1E7"/>
                      </a:solidFill>
                      <a:prstDash val="solid"/>
                    </a:lnT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E3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hi 选中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T w="9525">
                      <a:solidFill>
                        <a:srgbClr val="D9E1E7"/>
                      </a:solidFill>
                      <a:prstDash val="solid"/>
                    </a:lnT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E3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 选中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T w="9525">
                      <a:solidFill>
                        <a:srgbClr val="D9E1E7"/>
                      </a:solidFill>
                      <a:prstDash val="solid"/>
                    </a:lnT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E3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hi / lo CPU 时间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T w="9525">
                      <a:solidFill>
                        <a:srgbClr val="D9E1E7"/>
                      </a:solidFill>
                      <a:prstDash val="solid"/>
                    </a:lnT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E3F5FD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映射关闭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映射开启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7"/>
                      </a:solidFill>
                      <a:prstDash val="solid"/>
                    </a:lnL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7"/>
                      </a:solidFill>
                      <a:prstDash val="solid"/>
                    </a:lnR>
                    <a:lnB w="9525">
                      <a:solidFill>
                        <a:srgbClr val="D9E1E7"/>
                      </a:solidFill>
                      <a:prstDash val="solid"/>
                    </a:lnB>
                    <a:solidFill>
                      <a:srgbClr val="F1F8FB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71EF3-E784-4EA4-BA6E-43D88B69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4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4.25 倍表示轮转粒度变化，不能解释为应用性能提升。</a:t>
            </a:r>
          </a:p>
        </p:txBody>
      </p:sp>
    </p:spTree>
    <p:extLst>
      <p:ext uri="{BB962C8B-B14F-4D97-AF65-F5344CB8AC3E}">
        <p14:creationId xmlns:p14="http://schemas.microsoft.com/office/powerpoint/2010/main" val="6868787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C12EE8DC-47BA-4F28-986C-CD8AC79E2F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fld id="{388657AE-30A1-5A7A-6A7F-315D84436430}" type="slidenum">
              <a:rPr>
                <a:latin typeface="微软雅黑"/>
                <a:ea typeface="微软雅黑"/>
                <a:cs typeface="微软雅黑"/>
              </a:rPr>
              <a:t>9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253714C-8FD9-4B9B-A717-F3824F649E5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28600" y="200025"/>
            <a:ext cx="9144000" cy="476250"/>
          </a:xfrm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>
                <a:latin typeface="微软雅黑"/>
                <a:ea typeface="微软雅黑"/>
                <a:cs typeface="微软雅黑"/>
              </a:defRPr>
            </a:defPPr>
            <a:lvl1pPr>
              <a:defRPr sz="2250">
                <a:latin typeface="微软雅黑"/>
                <a:ea typeface="微软雅黑"/>
                <a:cs typeface="微软雅黑"/>
              </a:defRPr>
            </a:lvl1pPr>
            <a:lvl2pPr>
              <a:defRPr sz="2250">
                <a:latin typeface="微软雅黑"/>
                <a:ea typeface="微软雅黑"/>
                <a:cs typeface="微软雅黑"/>
              </a:defRPr>
            </a:lvl2pPr>
            <a:lvl3pPr>
              <a:defRPr sz="2250">
                <a:latin typeface="微软雅黑"/>
                <a:ea typeface="微软雅黑"/>
                <a:cs typeface="微软雅黑"/>
              </a:defRPr>
            </a:lvl3pPr>
            <a:lvl4pPr>
              <a:defRPr sz="2250">
                <a:latin typeface="微软雅黑"/>
                <a:ea typeface="微软雅黑"/>
                <a:cs typeface="微软雅黑"/>
              </a:defRPr>
            </a:lvl4pPr>
            <a:lvl5pPr>
              <a:defRPr sz="2250">
                <a:latin typeface="微软雅黑"/>
                <a:ea typeface="微软雅黑"/>
                <a:cs typeface="微软雅黑"/>
              </a:defRPr>
            </a:lvl5pPr>
            <a:lvl6pPr>
              <a:defRPr sz="2250">
                <a:latin typeface="微软雅黑"/>
                <a:ea typeface="微软雅黑"/>
                <a:cs typeface="微软雅黑"/>
              </a:defRPr>
            </a:lvl6pPr>
            <a:lvl7pPr>
              <a:defRPr sz="2250">
                <a:latin typeface="微软雅黑"/>
                <a:ea typeface="微软雅黑"/>
                <a:cs typeface="微软雅黑"/>
              </a:defRPr>
            </a:lvl7pPr>
            <a:lvl8pPr>
              <a:defRPr sz="2250">
                <a:latin typeface="微软雅黑"/>
                <a:ea typeface="微软雅黑"/>
                <a:cs typeface="微软雅黑"/>
              </a:defRPr>
            </a:lvl8pPr>
            <a:lvl9pPr>
              <a:defRPr sz="22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可选调优降低 QoS 竞争尾延迟，但仍高于 CFS</a:t>
            </a:r>
            <a:endParaRPr/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2D28FB36-6175-4985-9EF4-F67176D3ABF1}"/>
              </a:ext>
            </a:extLst>
          </p:cNvPr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10572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e9b6849cc44833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10C6C-BBA8-480A-8C18-2BB5D2C2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6271"/>
                </a:solidFill>
                <a:latin typeface="微软雅黑"/>
                <a:ea typeface="微软雅黑"/>
                <a:cs typeface="微软雅黑"/>
              </a:rPr>
              <a:t>唤醒 p99，单位 ms。条形为三次启动各自统计的中位数。线程交接由 12.4 增至 23.2 μs。</a:t>
            </a:r>
          </a:p>
        </p:txBody>
      </p:sp>
    </p:spTree>
    <p:extLst>
      <p:ext uri="{BB962C8B-B14F-4D97-AF65-F5344CB8AC3E}">
        <p14:creationId xmlns:p14="http://schemas.microsoft.com/office/powerpoint/2010/main" val="2142979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A74BB00E-307E-4A5B-91BC-7A40BD533A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fld id="{DB7BEEEC-A170-5376-2B6E-CB54687B0CB1}" type="slidenum">
              <a:rPr>
                <a:latin typeface="微软雅黑"/>
                <a:ea typeface="微软雅黑"/>
                <a:cs typeface="微软雅黑"/>
              </a:rPr>
              <a:t>10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BBB684F-30B2-4467-8EEF-1591744D938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28600" y="200025"/>
            <a:ext cx="9144000" cy="476250"/>
          </a:xfrm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>
                <a:latin typeface="微软雅黑"/>
                <a:ea typeface="微软雅黑"/>
                <a:cs typeface="微软雅黑"/>
              </a:defRPr>
            </a:defPPr>
            <a:lvl1pPr>
              <a:defRPr sz="2250">
                <a:latin typeface="微软雅黑"/>
                <a:ea typeface="微软雅黑"/>
                <a:cs typeface="微软雅黑"/>
              </a:defRPr>
            </a:lvl1pPr>
            <a:lvl2pPr>
              <a:defRPr sz="2250">
                <a:latin typeface="微软雅黑"/>
                <a:ea typeface="微软雅黑"/>
                <a:cs typeface="微软雅黑"/>
              </a:defRPr>
            </a:lvl2pPr>
            <a:lvl3pPr>
              <a:defRPr sz="2250">
                <a:latin typeface="微软雅黑"/>
                <a:ea typeface="微软雅黑"/>
                <a:cs typeface="微软雅黑"/>
              </a:defRPr>
            </a:lvl3pPr>
            <a:lvl4pPr>
              <a:defRPr sz="2250">
                <a:latin typeface="微软雅黑"/>
                <a:ea typeface="微软雅黑"/>
                <a:cs typeface="微软雅黑"/>
              </a:defRPr>
            </a:lvl4pPr>
            <a:lvl5pPr>
              <a:defRPr sz="2250">
                <a:latin typeface="微软雅黑"/>
                <a:ea typeface="微软雅黑"/>
                <a:cs typeface="微软雅黑"/>
              </a:defRPr>
            </a:lvl5pPr>
            <a:lvl6pPr>
              <a:defRPr sz="2250">
                <a:latin typeface="微软雅黑"/>
                <a:ea typeface="微软雅黑"/>
                <a:cs typeface="微软雅黑"/>
              </a:defRPr>
            </a:lvl6pPr>
            <a:lvl7pPr>
              <a:defRPr sz="2250">
                <a:latin typeface="微软雅黑"/>
                <a:ea typeface="微软雅黑"/>
                <a:cs typeface="微软雅黑"/>
              </a:defRPr>
            </a:lvl7pPr>
            <a:lvl8pPr>
              <a:defRPr sz="2250">
                <a:latin typeface="微软雅黑"/>
                <a:ea typeface="微软雅黑"/>
                <a:cs typeface="微软雅黑"/>
              </a:defRPr>
            </a:lvl8pPr>
            <a:lvl9pPr>
              <a:defRPr sz="22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负 lag 与长后台请求共同限制唤醒响应</a:t>
            </a:r>
            <a:endParaRPr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19088-678A-4071-9A6D-DDF32488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周期任务可能带负 lag 唤醒；短 slice 无法消除暂时不可运行。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48336-C0A2-4784-A6E1-D2338ADC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4 ms QoS 上限并启用 HRTICK，将四忙等 QoS p99 降低 39.2%。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C6E45-93A0-46D4-A1E8-348A23C5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代价：pingpong 增加 86.9%，无 QoS 四忙等 p99 变慢。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5B8403-157B-4F8A-ABA4-0909F7FC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该可选方案仍慢于 CFS；实机、应用链路和长期稳定性未验证。</a:t>
            </a:r>
          </a:p>
        </p:txBody>
      </p:sp>
    </p:spTree>
    <p:extLst>
      <p:ext uri="{BB962C8B-B14F-4D97-AF65-F5344CB8AC3E}">
        <p14:creationId xmlns:p14="http://schemas.microsoft.com/office/powerpoint/2010/main" val="4765607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33CE9EC9-AB24-4588-8AE7-F5B8952C36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fld id="{30394428-F1DC-E5F6-DB0C-7DE31F3D8A23}" type="slidenum">
              <a:rPr>
                <a:latin typeface="微软雅黑"/>
                <a:ea typeface="微软雅黑"/>
                <a:cs typeface="微软雅黑"/>
              </a:rPr>
              <a:t>11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B17550B-F6CB-48C2-9223-0FE01A369C5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28600" y="200025"/>
            <a:ext cx="9144000" cy="476250"/>
          </a:xfrm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>
                <a:latin typeface="微软雅黑"/>
                <a:ea typeface="微软雅黑"/>
                <a:cs typeface="微软雅黑"/>
              </a:defRPr>
            </a:defPPr>
            <a:lvl1pPr>
              <a:defRPr sz="2250">
                <a:latin typeface="微软雅黑"/>
                <a:ea typeface="微软雅黑"/>
                <a:cs typeface="微软雅黑"/>
              </a:defRPr>
            </a:lvl1pPr>
            <a:lvl2pPr>
              <a:defRPr sz="2250">
                <a:latin typeface="微软雅黑"/>
                <a:ea typeface="微软雅黑"/>
                <a:cs typeface="微软雅黑"/>
              </a:defRPr>
            </a:lvl2pPr>
            <a:lvl3pPr>
              <a:defRPr sz="2250">
                <a:latin typeface="微软雅黑"/>
                <a:ea typeface="微软雅黑"/>
                <a:cs typeface="微软雅黑"/>
              </a:defRPr>
            </a:lvl3pPr>
            <a:lvl4pPr>
              <a:defRPr sz="2250">
                <a:latin typeface="微软雅黑"/>
                <a:ea typeface="微软雅黑"/>
                <a:cs typeface="微软雅黑"/>
              </a:defRPr>
            </a:lvl4pPr>
            <a:lvl5pPr>
              <a:defRPr sz="2250">
                <a:latin typeface="微软雅黑"/>
                <a:ea typeface="微软雅黑"/>
                <a:cs typeface="微软雅黑"/>
              </a:defRPr>
            </a:lvl5pPr>
            <a:lvl6pPr>
              <a:defRPr sz="2250">
                <a:latin typeface="微软雅黑"/>
                <a:ea typeface="微软雅黑"/>
                <a:cs typeface="微软雅黑"/>
              </a:defRPr>
            </a:lvl6pPr>
            <a:lvl7pPr>
              <a:defRPr sz="2250">
                <a:latin typeface="微软雅黑"/>
                <a:ea typeface="微软雅黑"/>
                <a:cs typeface="微软雅黑"/>
              </a:defRPr>
            </a:lvl7pPr>
            <a:lvl8pPr>
              <a:defRPr sz="2250">
                <a:latin typeface="微软雅黑"/>
                <a:ea typeface="微软雅黑"/>
                <a:cs typeface="微软雅黑"/>
              </a:defRPr>
            </a:lvl8pPr>
            <a:lvl9pPr>
              <a:defRPr sz="22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源码和原始证据共同构成交付物</a:t>
            </a:r>
            <a:endParaRPr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7E894-58E9-4C6A-912C-93CC142B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14 个源码快照文件，保留上游版权与许可。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7FE92-12F8-4248-9CBE-9F195F5D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初版补丁可重建 9 个 Linux 快照文件；调优补丁独立提供。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6EA7D-3CF4-4899-AA2B-37499567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17 组完整运行日志、两个增量 Image 构建及逐项哈希已归档。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718E7-7F7E-4D1B-8E7C-6E9586A2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完整系统镜像需另行准备；原快照和初版对照保持不变。</a:t>
            </a:r>
          </a:p>
        </p:txBody>
      </p:sp>
    </p:spTree>
    <p:extLst>
      <p:ext uri="{BB962C8B-B14F-4D97-AF65-F5344CB8AC3E}">
        <p14:creationId xmlns:p14="http://schemas.microsoft.com/office/powerpoint/2010/main" val="19460128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5C481E72-1169-48F1-BD8A-F6A0354AF3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fld id="{4DB16885-0D3F-A391-B669-3211DB3B26E8}" type="slidenum">
              <a:rPr>
                <a:latin typeface="微软雅黑"/>
                <a:ea typeface="微软雅黑"/>
                <a:cs typeface="微软雅黑"/>
              </a:rPr>
              <a:t>12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0513E13-A622-458C-BDB4-3C5CD0292FB4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28600" y="200025"/>
            <a:ext cx="9144000" cy="476250"/>
          </a:xfrm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>
                <a:latin typeface="微软雅黑"/>
                <a:ea typeface="微软雅黑"/>
                <a:cs typeface="微软雅黑"/>
              </a:defRPr>
            </a:defPPr>
            <a:lvl1pPr>
              <a:defRPr sz="2250">
                <a:latin typeface="微软雅黑"/>
                <a:ea typeface="微软雅黑"/>
                <a:cs typeface="微软雅黑"/>
              </a:defRPr>
            </a:lvl1pPr>
            <a:lvl2pPr>
              <a:defRPr sz="2250">
                <a:latin typeface="微软雅黑"/>
                <a:ea typeface="微软雅黑"/>
                <a:cs typeface="微软雅黑"/>
              </a:defRPr>
            </a:lvl2pPr>
            <a:lvl3pPr>
              <a:defRPr sz="2250">
                <a:latin typeface="微软雅黑"/>
                <a:ea typeface="微软雅黑"/>
                <a:cs typeface="微软雅黑"/>
              </a:defRPr>
            </a:lvl3pPr>
            <a:lvl4pPr>
              <a:defRPr sz="2250">
                <a:latin typeface="微软雅黑"/>
                <a:ea typeface="微软雅黑"/>
                <a:cs typeface="微软雅黑"/>
              </a:defRPr>
            </a:lvl4pPr>
            <a:lvl5pPr>
              <a:defRPr sz="2250">
                <a:latin typeface="微软雅黑"/>
                <a:ea typeface="微软雅黑"/>
                <a:cs typeface="微软雅黑"/>
              </a:defRPr>
            </a:lvl5pPr>
            <a:lvl6pPr>
              <a:defRPr sz="2250">
                <a:latin typeface="微软雅黑"/>
                <a:ea typeface="微软雅黑"/>
                <a:cs typeface="微软雅黑"/>
              </a:defRPr>
            </a:lvl6pPr>
            <a:lvl7pPr>
              <a:defRPr sz="2250">
                <a:latin typeface="微软雅黑"/>
                <a:ea typeface="微软雅黑"/>
                <a:cs typeface="微软雅黑"/>
              </a:defRPr>
            </a:lvl7pPr>
            <a:lvl8pPr>
              <a:defRPr sz="2250">
                <a:latin typeface="微软雅黑"/>
                <a:ea typeface="微软雅黑"/>
                <a:cs typeface="微软雅黑"/>
              </a:defRPr>
            </a:lvl8pPr>
            <a:lvl9pPr>
              <a:defRPr sz="22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可选调优有改善与明确代价，部署仍需验证</a:t>
            </a:r>
            <a:endParaRPr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41ECA-69D8-45EB-8587-3A27488D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四忙等任务加 QoS 的唤醒 p99：15.576 → 9.474 ms。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981F8-C692-4D8C-B625-A10070B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线程交接增加 86.9%，无 QoS 四忙等场景变慢。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3E648-6F47-4075-B075-192A6753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2 ms cap 未通过原 QoS 判定，保留为未定结果。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67394-D45A-49E7-8610-5E6176F9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2B3C"/>
                </a:solidFill>
                <a:latin typeface="微软雅黑"/>
                <a:ea typeface="微软雅黑"/>
                <a:cs typeface="微软雅黑"/>
              </a:rPr>
              <a:t>用户态 QoS、SMP、长期稳定性和实机验证仍待完成。</a:t>
            </a:r>
          </a:p>
        </p:txBody>
      </p:sp>
    </p:spTree>
    <p:extLst>
      <p:ext uri="{BB962C8B-B14F-4D97-AF65-F5344CB8AC3E}">
        <p14:creationId xmlns:p14="http://schemas.microsoft.com/office/powerpoint/2010/main" val="7690487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55F2227-C2A4-4E3C-AFEC-99A9C523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237" y="1942121"/>
            <a:ext cx="5077527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6600" b="1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  谢</a:t>
            </a:r>
            <a:endParaRPr sz="6600" b="1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578BE645-07CD-4846-BF11-A1EA8D7F38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fld id="{2DD23107-4986-8758-3A93-3D74F35908CC}" type="slidenum">
              <a:rPr>
                <a:latin typeface="微软雅黑"/>
                <a:ea typeface="微软雅黑"/>
                <a:cs typeface="微软雅黑"/>
              </a:rPr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2793200"/>
      </p:ext>
    </p:extLst>
  </p:cSld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2026-10-30T11:27:41.2270000Z</dcterms:created>
  <dcterms:modified xsi:type="dcterms:W3CDTF">2026-10-30T11:27:41.2270000Z</dcterms:modified>
</coreProperties>
</file>